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f238b81cb94a3d" /><Relationship Type="http://schemas.openxmlformats.org/officeDocument/2006/relationships/extended-properties" Target="/docProps/app.xml" Id="R34266123b3614a37" /><Relationship Type="http://schemas.openxmlformats.org/officeDocument/2006/relationships/officeDocument" Target="/ppt/presentation.xml" Id="R7b3a73eb25d94e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fb6b6a00243f0"/>
  </p:sldMasterIdLst>
  <p:notesMasterIdLst>
    <p:notesMasterId xmlns:r="http://schemas.openxmlformats.org/officeDocument/2006/relationships" r:id="R26a3990cbfd94621"/>
  </p:notesMasterIdLst>
  <p:sldIdLst>
    <p:sldId xmlns:r="http://schemas.openxmlformats.org/officeDocument/2006/relationships" id="256" r:id="R4a15a28233e046c8"/>
    <p:sldId xmlns:r="http://schemas.openxmlformats.org/officeDocument/2006/relationships" id="257" r:id="R79ca6edc8b304729"/>
    <p:sldId xmlns:r="http://schemas.openxmlformats.org/officeDocument/2006/relationships" id="258" r:id="Rac878ac7dc374205"/>
    <p:sldId xmlns:r="http://schemas.openxmlformats.org/officeDocument/2006/relationships" id="259" r:id="R7b0529a14fc04022"/>
    <p:sldId xmlns:r="http://schemas.openxmlformats.org/officeDocument/2006/relationships" id="260" r:id="Re64da51e51f245d8"/>
    <p:sldId xmlns:r="http://schemas.openxmlformats.org/officeDocument/2006/relationships" id="261" r:id="R474a1815a41d4fec"/>
    <p:sldId xmlns:r="http://schemas.openxmlformats.org/officeDocument/2006/relationships" id="262" r:id="R0afc9eb81d4d4f32"/>
    <p:sldId xmlns:r="http://schemas.openxmlformats.org/officeDocument/2006/relationships" id="263" r:id="Rc8a57028ae4c481a"/>
    <p:sldId xmlns:r="http://schemas.openxmlformats.org/officeDocument/2006/relationships" id="264" r:id="R601b98ac9dd2478a"/>
    <p:sldId xmlns:r="http://schemas.openxmlformats.org/officeDocument/2006/relationships" id="265" r:id="Rde5b2896de094111"/>
    <p:sldId xmlns:r="http://schemas.openxmlformats.org/officeDocument/2006/relationships" id="266" r:id="R65cc628f62074592"/>
    <p:sldId xmlns:r="http://schemas.openxmlformats.org/officeDocument/2006/relationships" id="267" r:id="Rd9dc338fe10f4b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0d3c9cb9c6459c" /><Relationship Type="http://schemas.openxmlformats.org/officeDocument/2006/relationships/slideMaster" Target="/ppt/slideMasters/slideMaster1.xml" Id="Rd35fb6b6a00243f0" /><Relationship Type="http://schemas.openxmlformats.org/officeDocument/2006/relationships/notesMaster" Target="/ppt/notesMasters/notesMaster1.xml" Id="R26a3990cbfd94621" /><Relationship Type="http://schemas.openxmlformats.org/officeDocument/2006/relationships/presProps" Target="/ppt/presProps.xml" Id="R76a37103e68a4115" /><Relationship Type="http://schemas.openxmlformats.org/officeDocument/2006/relationships/tableStyles" Target="/ppt/tableStyles.xml" Id="Ra2cff52ea08c4a73" /><Relationship Type="http://schemas.openxmlformats.org/officeDocument/2006/relationships/slide" Target="/ppt/slides/slide1.xml" Id="R4a15a28233e046c8" /><Relationship Type="http://schemas.openxmlformats.org/officeDocument/2006/relationships/slide" Target="/ppt/slides/slide2.xml" Id="R79ca6edc8b304729" /><Relationship Type="http://schemas.openxmlformats.org/officeDocument/2006/relationships/slide" Target="/ppt/slides/slide3.xml" Id="Rac878ac7dc374205" /><Relationship Type="http://schemas.openxmlformats.org/officeDocument/2006/relationships/slide" Target="/ppt/slides/slide4.xml" Id="R7b0529a14fc04022" /><Relationship Type="http://schemas.openxmlformats.org/officeDocument/2006/relationships/slide" Target="/ppt/slides/slide5.xml" Id="Re64da51e51f245d8" /><Relationship Type="http://schemas.openxmlformats.org/officeDocument/2006/relationships/slide" Target="/ppt/slides/slide6.xml" Id="R474a1815a41d4fec" /><Relationship Type="http://schemas.openxmlformats.org/officeDocument/2006/relationships/slide" Target="/ppt/slides/slide7.xml" Id="R0afc9eb81d4d4f32" /><Relationship Type="http://schemas.openxmlformats.org/officeDocument/2006/relationships/slide" Target="/ppt/slides/slide8.xml" Id="Rc8a57028ae4c481a" /><Relationship Type="http://schemas.openxmlformats.org/officeDocument/2006/relationships/slide" Target="/ppt/slides/slide9.xml" Id="R601b98ac9dd2478a" /><Relationship Type="http://schemas.openxmlformats.org/officeDocument/2006/relationships/slide" Target="/ppt/slides/slide10.xml" Id="Rde5b2896de094111" /><Relationship Type="http://schemas.openxmlformats.org/officeDocument/2006/relationships/slide" Target="/ppt/slides/slide11.xml" Id="R65cc628f62074592" /><Relationship Type="http://schemas.openxmlformats.org/officeDocument/2006/relationships/slide" Target="/ppt/slides/slide12.xml" Id="Rd9dc338fe10f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b9b5351cb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d00c4f690044c6" /><Relationship Type="http://schemas.openxmlformats.org/officeDocument/2006/relationships/notesMaster" Target="/ppt/notesMasters/notesMaster1.xml" Id="Raa95f07a1d414f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6011d79a154856" /><Relationship Type="http://schemas.openxmlformats.org/officeDocument/2006/relationships/notesMaster" Target="/ppt/notesMasters/notesMaster1.xml" Id="Rbfae3f4e95d14d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ef4756887a4d8d" /><Relationship Type="http://schemas.openxmlformats.org/officeDocument/2006/relationships/notesMaster" Target="/ppt/notesMasters/notesMaster1.xml" Id="R210e6366a79f49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5c7aef6a25480c" /><Relationship Type="http://schemas.openxmlformats.org/officeDocument/2006/relationships/notesMaster" Target="/ppt/notesMasters/notesMaster1.xml" Id="R75e8b297fa8c49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479ed5e5b74972" /><Relationship Type="http://schemas.openxmlformats.org/officeDocument/2006/relationships/notesMaster" Target="/ppt/notesMasters/notesMaster1.xml" Id="R5cb8f469860d49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30da0b2bc84792" /><Relationship Type="http://schemas.openxmlformats.org/officeDocument/2006/relationships/notesMaster" Target="/ppt/notesMasters/notesMaster1.xml" Id="Re162bcbfcf8a4d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d323a0b78a42cd" /><Relationship Type="http://schemas.openxmlformats.org/officeDocument/2006/relationships/notesMaster" Target="/ppt/notesMasters/notesMaster1.xml" Id="R11a2349c7c3b4b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12e5ff12084b9b" /><Relationship Type="http://schemas.openxmlformats.org/officeDocument/2006/relationships/notesMaster" Target="/ppt/notesMasters/notesMaster1.xml" Id="Rd6fa933ac8e545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e6aeb0c1634384" /><Relationship Type="http://schemas.openxmlformats.org/officeDocument/2006/relationships/notesMaster" Target="/ppt/notesMasters/notesMaster1.xml" Id="Rb49213c857134f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5f88a99d0e4ff3" /><Relationship Type="http://schemas.openxmlformats.org/officeDocument/2006/relationships/notesMaster" Target="/ppt/notesMasters/notesMaster1.xml" Id="R0be397ba29bd43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29b1f88cfa47cf" /><Relationship Type="http://schemas.openxmlformats.org/officeDocument/2006/relationships/notesMaster" Target="/ppt/notesMasters/notesMaster1.xml" Id="Re225e9da53ef4a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1152b211ee4e9b" /><Relationship Type="http://schemas.openxmlformats.org/officeDocument/2006/relationships/notesMaster" Target="/ppt/notesMasters/notesMaster1.xml" Id="R03b8adf090fa40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fdf455db24f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292b5a658840ce" /><Relationship Type="http://schemas.openxmlformats.org/officeDocument/2006/relationships/slideLayout" Target="/ppt/slideLayouts/slideLayout1.xml" Id="R5c5f287fb1bb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f287fb1bb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4a0fd8d5a4b9c" /><Relationship Type="http://schemas.openxmlformats.org/officeDocument/2006/relationships/image" Target="/ppt/media/image.png" Id="Rb7be198f8b32456e" /><Relationship Type="http://schemas.openxmlformats.org/officeDocument/2006/relationships/notesSlide" Target="/ppt/notesSlides/notesSlide1.xml" Id="R6f489861bc2947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9e0dcd79242fb" /><Relationship Type="http://schemas.openxmlformats.org/officeDocument/2006/relationships/image" Target="/ppt/media/image2.png" Id="R5b2357e247a24e23" /><Relationship Type="http://schemas.openxmlformats.org/officeDocument/2006/relationships/notesSlide" Target="/ppt/notesSlides/notesSlide2.xml" Id="Rde010b675af34c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031063ade49bb" /><Relationship Type="http://schemas.openxmlformats.org/officeDocument/2006/relationships/image" Target="/ppt/media/image3.png" Id="Rda69a91077c740d0" /><Relationship Type="http://schemas.openxmlformats.org/officeDocument/2006/relationships/notesSlide" Target="/ppt/notesSlides/notesSlide3.xml" Id="Rbe2018d16205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dcf0ba75d40aa" /><Relationship Type="http://schemas.openxmlformats.org/officeDocument/2006/relationships/image" Target="/ppt/media/image4.png" Id="R272939da165645c5" /><Relationship Type="http://schemas.openxmlformats.org/officeDocument/2006/relationships/notesSlide" Target="/ppt/notesSlides/notesSlide4.xml" Id="Rd3c3a3c78bf144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644b6e6d54f25" /><Relationship Type="http://schemas.openxmlformats.org/officeDocument/2006/relationships/image" Target="/ppt/media/image5.png" Id="R384bbe9df8964a40" /><Relationship Type="http://schemas.openxmlformats.org/officeDocument/2006/relationships/notesSlide" Target="/ppt/notesSlides/notesSlide5.xml" Id="R2e59810b10cd4d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8e180573b4de0" /><Relationship Type="http://schemas.openxmlformats.org/officeDocument/2006/relationships/image" Target="/ppt/media/image6.png" Id="R105a241ca18e446d" /><Relationship Type="http://schemas.openxmlformats.org/officeDocument/2006/relationships/notesSlide" Target="/ppt/notesSlides/notesSlide6.xml" Id="R1b90a29e8ab2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48b0fc6b44ba" /><Relationship Type="http://schemas.openxmlformats.org/officeDocument/2006/relationships/image" Target="/ppt/media/image7.png" Id="R22b0d48af2584634" /><Relationship Type="http://schemas.openxmlformats.org/officeDocument/2006/relationships/notesSlide" Target="/ppt/notesSlides/notesSlide7.xml" Id="Rd3a10dec89604d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0bcb47fe40c0" /><Relationship Type="http://schemas.openxmlformats.org/officeDocument/2006/relationships/image" Target="/ppt/media/image8.png" Id="R1b7347c773f04c12" /><Relationship Type="http://schemas.openxmlformats.org/officeDocument/2006/relationships/notesSlide" Target="/ppt/notesSlides/notesSlide8.xml" Id="Rcff80cfeff5e43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d36af581040d0" /><Relationship Type="http://schemas.openxmlformats.org/officeDocument/2006/relationships/image" Target="/ppt/media/image9.png" Id="R49bc6c615c854c32" /><Relationship Type="http://schemas.openxmlformats.org/officeDocument/2006/relationships/notesSlide" Target="/ppt/notesSlides/notesSlide9.xml" Id="R9ec1594d3a7645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f5e4c77294aa2" /><Relationship Type="http://schemas.openxmlformats.org/officeDocument/2006/relationships/image" Target="/ppt/media/image10.png" Id="R9a81639a98cd44a4" /><Relationship Type="http://schemas.openxmlformats.org/officeDocument/2006/relationships/notesSlide" Target="/ppt/notesSlides/notesSlide10.xml" Id="R585c5aaf0f7845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674240a9a4d32" /><Relationship Type="http://schemas.openxmlformats.org/officeDocument/2006/relationships/image" Target="/ppt/media/image11.png" Id="R4c7d6d27cedb46ff" /><Relationship Type="http://schemas.openxmlformats.org/officeDocument/2006/relationships/notesSlide" Target="/ppt/notesSlides/notesSlide11.xml" Id="R39aaa6c786fa48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be2c2359c480a" /><Relationship Type="http://schemas.openxmlformats.org/officeDocument/2006/relationships/image" Target="/ppt/media/image12.png" Id="R0276b42eaa4f4a85" /><Relationship Type="http://schemas.openxmlformats.org/officeDocument/2006/relationships/notesSlide" Target="/ppt/notesSlides/notesSlide12.xml" Id="R22433be3497b46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FE98B-8B67-40FA-9221-52B96A89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3162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22D56-C704-4F30-A0FA-F3AA1137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0DDDF"/>
                </a:solidFill>
              </a:defRPr>
            </a:pPr>
            <a:r>
              <a:rPr sz="975" b="1">
                <a:solidFill>
                  <a:srgbClr val="90DDDF"/>
                </a:solidFill>
              </a:rPr>
              <a:t>PROPOSTA DE ARQUITETURA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22BF8D7-3FFF-4CB0-A475-5D2271DF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382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EFF4F5"/>
                </a:solidFill>
              </a:defRPr>
            </a:pPr>
            <a:r>
              <a:rPr sz="4800" b="1">
                <a:solidFill>
                  <a:srgbClr val="EFF4F5"/>
                </a:solidFill>
              </a:rPr>
              <a:t>Uma plataforma previsível para evoluir integrações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8D62-7E6A-483E-92CB-1B527CE7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91A7B8"/>
                </a:solidFill>
              </a:defRPr>
            </a:pPr>
            <a:r>
              <a:rPr sz="1800" b="0">
                <a:solidFill>
                  <a:srgbClr val="91A7B8"/>
                </a:solidFill>
              </a:rPr>
              <a:t>Limites claros, migração incremental e decisões sustentadas por evidência.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17CB6-5687-45AB-94BE-52C42FFD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F1017-724C-4647-8AE8-8EAA8C11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FF4F5"/>
                </a:solidFill>
              </a:defRPr>
            </a:pPr>
            <a:r>
              <a:rPr sz="1050" b="1">
                <a:solidFill>
                  <a:srgbClr val="EFF4F5"/>
                </a:solidFill>
              </a:rPr>
              <a:t>ArcSyn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59145-150B-414B-BE53-B0754B64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43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Comitê de arquitetura · Julho 2026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e198f8b32456e"/>
          <a:stretch xmlns:a="http://schemas.openxmlformats.org/drawingml/2006/main"/>
        </p:blipFill>
        <p:spPr>
          <a:xfrm xmlns:a="http://schemas.openxmlformats.org/drawingml/2006/main">
            <a:off x="9486900" y="405858"/>
            <a:ext cx="1714500" cy="9408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1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FE6D6-52F7-436A-AACE-33E10A69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285AB-8298-4F0A-A6C1-3E125DD0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ED695-585B-4001-AD9C-E0D8DC94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61200-C748-46C6-B345-55225EEB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1FFB1-260F-4787-AFBD-64ECD6D9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90DDDF"/>
                </a:solidFill>
              </a:defRPr>
            </a:pPr>
            <a:r>
              <a:rPr sz="5250" b="1">
                <a:solidFill>
                  <a:srgbClr val="90DDD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D89C4-EAA5-4503-A537-5B63C075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EFF4F5"/>
                </a:solidFill>
              </a:defRPr>
            </a:pPr>
            <a:r>
              <a:rPr sz="3750" b="1">
                <a:solidFill>
                  <a:srgbClr val="EFF4F5"/>
                </a:solidFill>
              </a:rPr>
              <a:t>Por que mudar agora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56604-79F7-4ADA-A833-11136FD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E41AC-C6C3-4E92-8276-25140E3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91A7B8"/>
                </a:solidFill>
              </a:defRPr>
            </a:pPr>
            <a:r>
              <a:rPr sz="1800" b="0">
                <a:solidFill>
                  <a:srgbClr val="91A7B8"/>
                </a:solidFill>
              </a:rPr>
              <a:t>A complexidade já não está apenas nas integrações; ela está nas exceções entre elas.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357e247a24e23"/>
          <a:stretch xmlns:a="http://schemas.openxmlformats.org/drawingml/2006/main"/>
        </p:blipFill>
        <p:spPr>
          <a:xfrm xmlns:a="http://schemas.openxmlformats.org/drawingml/2006/main">
            <a:off x="9353550" y="4956369"/>
            <a:ext cx="1619250" cy="8886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13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CAC46-2A9A-4308-AD8E-4E4714B2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PROBLEMA E IMPACTO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770D9-BD25-43F1-9D15-898CEE15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D2237-18EF-47D4-BB08-89739BA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DD5B6-1E7E-45D5-82F0-775B32E4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0ADF5E-7A5C-48E7-A7D3-9D9945C8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FF4F5"/>
                </a:solidFill>
              </a:defRPr>
            </a:pPr>
            <a:r>
              <a:rPr sz="3150" b="1">
                <a:solidFill>
                  <a:srgbClr val="EFF4F5"/>
                </a:solidFill>
              </a:rPr>
              <a:t>Cada exceção local aumenta o custo da próxima mudança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DAFD3-08E4-47F7-B8C1-C6FFBBC2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1A7B8"/>
                </a:solidFill>
              </a:defRPr>
            </a:pPr>
            <a:r>
              <a:rPr sz="900" b="1">
                <a:solidFill>
                  <a:srgbClr val="91A7B8"/>
                </a:solidFill>
              </a:rPr>
              <a:t>SITUAÇÃO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86F1A-1E38-462E-9031-E1A5DEE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FF4F5"/>
                </a:solidFill>
              </a:defRPr>
            </a:pPr>
            <a:r>
              <a:rPr sz="2025" b="1">
                <a:solidFill>
                  <a:srgbClr val="EFF4F5"/>
                </a:solidFill>
              </a:rPr>
              <a:t>Regras de integração vivem em serviços, filas e rotinas operacionais diferentes.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51AA5-2997-4A19-BC99-6BF7A5C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1D548-0957-4749-89B2-7AE696E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56F78"/>
                </a:solidFill>
              </a:defRPr>
            </a:pPr>
            <a:r>
              <a:rPr sz="900" b="1">
                <a:solidFill>
                  <a:srgbClr val="C56F78"/>
                </a:solidFill>
              </a:rPr>
              <a:t>CONSEQUÊNCIAS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628BD-1130-43A2-B3D0-4082FB50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0DDDF"/>
                </a:solidFill>
              </a:defRPr>
            </a:pPr>
            <a:r>
              <a:rPr sz="1050" b="1">
                <a:solidFill>
                  <a:srgbClr val="90DDD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0EFCF-5AE3-4531-89D4-96A8155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FF4F5"/>
                </a:solidFill>
              </a:defRPr>
            </a:pPr>
            <a:r>
              <a:rPr sz="1350" b="0">
                <a:solidFill>
                  <a:srgbClr val="EFF4F5"/>
                </a:solidFill>
              </a:rPr>
              <a:t>Mudanças simples exigem coordenação entre várias equipes.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F1803-187F-453A-908D-2A10BE5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30259-5004-47CE-8AC6-15546BF0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0DDDF"/>
                </a:solidFill>
              </a:defRPr>
            </a:pPr>
            <a:r>
              <a:rPr sz="1050" b="1">
                <a:solidFill>
                  <a:srgbClr val="90DDD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123DC-FF10-4133-BC72-7BAA063A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FF4F5"/>
                </a:solidFill>
              </a:defRPr>
            </a:pPr>
            <a:r>
              <a:rPr sz="1350" b="0">
                <a:solidFill>
                  <a:srgbClr val="EFF4F5"/>
                </a:solidFill>
              </a:rPr>
              <a:t>Falhas são diagnosticadas pelo caminho percorrido, não pelo contrato.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47B59-28DB-4C00-BA74-D11D8F7D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CBF3A-7B04-44AB-ACE8-70D8A36A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0DDDF"/>
                </a:solidFill>
              </a:defRPr>
            </a:pPr>
            <a:r>
              <a:rPr sz="1050" b="1">
                <a:solidFill>
                  <a:srgbClr val="90DDD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445DF-75BD-4009-A86D-28413F87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FF4F5"/>
                </a:solidFill>
              </a:defRPr>
            </a:pPr>
            <a:r>
              <a:rPr sz="1350" b="0">
                <a:solidFill>
                  <a:srgbClr val="EFF4F5"/>
                </a:solidFill>
              </a:rPr>
              <a:t>A estratégia de migração se torna uma sequência de exceções.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9a91077c740d0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2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1B1A0-BAA2-47A9-AA84-1D72348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TESE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6D98B-E3FA-4229-BDDB-0EFDFD96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DCFA5-0549-4940-A2A6-AD9D2CD2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2FD68-FE1E-4308-98E4-BD830D6D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B5ED9-F234-427F-A597-266D6352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16349-FC8C-4240-82B3-F132D072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EFF4F5"/>
                </a:solidFill>
              </a:defRPr>
            </a:pPr>
            <a:r>
              <a:rPr sz="4050" b="1">
                <a:solidFill>
                  <a:srgbClr val="EFF4F5"/>
                </a:solidFill>
              </a:rPr>
              <a:t>A plataforma deve tornar o caminho padrão mais barato do que criar uma exceção.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C5F98-916A-480E-B360-348F76AD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91A7B8"/>
                </a:solidFill>
              </a:defRPr>
            </a:pPr>
            <a:r>
              <a:rPr sz="1800" b="0">
                <a:solidFill>
                  <a:srgbClr val="91A7B8"/>
                </a:solidFill>
              </a:rPr>
              <a:t>Isso exige contratos claros, observabilidade comum e migração por capacidades — não uma reescrita total.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939da165645c5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44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F1CB4-35CC-4124-9FE8-AD92D541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593E9-1105-4198-A952-8CFE4F7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2ADDC-E95F-41B8-BDEC-2338E997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BC9DD-210C-4992-8EDC-82BBF3A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2EFAF-92B8-40B5-8715-A3201D1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FF4F5"/>
                </a:solidFill>
              </a:defRPr>
            </a:pPr>
            <a:r>
              <a:rPr sz="3150" b="1">
                <a:solidFill>
                  <a:srgbClr val="EFF4F5"/>
                </a:solidFill>
              </a:rPr>
              <a:t>Contratos e observabilidade formam o núcleo compartilhado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0EF8E-64E0-43B8-9802-A877A19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1A7B8"/>
                </a:solidFill>
              </a:defRPr>
            </a:pPr>
            <a:r>
              <a:rPr sz="825" b="1">
                <a:solidFill>
                  <a:srgbClr val="91A7B8"/>
                </a:solidFill>
              </a:rPr>
              <a:t>CANAIS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DA1DD-676B-410D-A4A8-6C2CEE3D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0DDDF"/>
                </a:solidFill>
              </a:defRPr>
            </a:pPr>
            <a:r>
              <a:rPr sz="825" b="1">
                <a:solidFill>
                  <a:srgbClr val="90DDDF"/>
                </a:solidFill>
              </a:rPr>
              <a:t>PLATAFORMA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71DDC-606B-4E66-A469-496D50E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1A7B8"/>
                </a:solidFill>
              </a:defRPr>
            </a:pPr>
            <a:r>
              <a:rPr sz="825" b="1">
                <a:solidFill>
                  <a:srgbClr val="91A7B8"/>
                </a:solidFill>
              </a:rPr>
              <a:t>SISTEMAS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5FAA7-C2B7-463A-A357-5A52E99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25391-32FC-4534-8DEE-AA4056B5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114B7-CA35-4A99-81F2-16668B54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E2CCA-418F-41D9-885B-898AB106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745E8-2394-4D13-B714-D3D9DF2B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7907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D2936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AB027-99F2-4368-BDB8-5E0601F5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FF4F5"/>
                </a:solidFill>
              </a:defRPr>
            </a:pPr>
            <a:r>
              <a:rPr sz="1350" b="1">
                <a:solidFill>
                  <a:srgbClr val="EFF4F5"/>
                </a:solidFill>
              </a:rPr>
              <a:t>Produtos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E1260-A875-4ABC-9161-825EC7B5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Aplicações e fluxos consumidores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F50EA-2683-42C8-9BC7-00DC0612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1336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263545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C74F5-C604-4417-AB2F-D0839D5F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670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FF4F5"/>
                </a:solidFill>
              </a:defRPr>
            </a:pPr>
            <a:r>
              <a:rPr sz="1350" b="1">
                <a:solidFill>
                  <a:srgbClr val="EFF4F5"/>
                </a:solidFill>
              </a:rPr>
              <a:t>Gateway de contratos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BC0F3-46EA-4DA9-8C3D-5239DB2B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Validação, versão e políticas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40F0D-DC64-487A-84B3-8CB1F2C7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1336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263545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9D4E7-9DCA-4B2E-96B2-78C67961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FF4F5"/>
                </a:solidFill>
              </a:defRPr>
            </a:pPr>
            <a:r>
              <a:rPr sz="1350" b="1">
                <a:solidFill>
                  <a:srgbClr val="EFF4F5"/>
                </a:solidFill>
              </a:rPr>
              <a:t>Orquestração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6C36A-5D78-48A4-8584-CD376192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Roteamento, retry e idempotência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F5BEB-E6E9-46E1-9BE9-1469E2F9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21145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D2936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CF9AB-A01A-4AD9-BD88-5DC07801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FF4F5"/>
                </a:solidFill>
              </a:defRPr>
            </a:pPr>
            <a:r>
              <a:rPr sz="1350" b="1">
                <a:solidFill>
                  <a:srgbClr val="EFF4F5"/>
                </a:solidFill>
              </a:rPr>
              <a:t>Sistemas de registro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6D693-2AC9-45F5-B22B-FAAA58A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Domínios e parceiros externos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E1EEB-3E52-4368-8595-1970D5D9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152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D2936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4A127A-159B-45AB-AC78-B584344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38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FF4F5"/>
                </a:solidFill>
              </a:defRPr>
            </a:pPr>
            <a:r>
              <a:rPr sz="1350" b="1">
                <a:solidFill>
                  <a:srgbClr val="EFF4F5"/>
                </a:solidFill>
              </a:rPr>
              <a:t>Telemetria comum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B295B-1AC8-451D-8F5E-C8B6F9C5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Correlação ponta a ponta e SLOs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bbe9df8964a40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72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1A25B9-6841-49CD-8AB2-B26A8C4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FLUXO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F3AFE-3C66-4676-A0B7-09312C6B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A0B2C-1A67-4921-9C38-23C3C0E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E28A8-97A8-4A20-A507-B6D14DF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1E55DD-CE80-4C1A-928C-DDF7CA42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FF4F5"/>
                </a:solidFill>
              </a:defRPr>
            </a:pPr>
            <a:r>
              <a:rPr sz="3150" b="1">
                <a:solidFill>
                  <a:srgbClr val="EFF4F5"/>
                </a:solidFill>
              </a:rPr>
              <a:t>Uma requisição preserva contexto do produto ao sistema de 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7AC41-1C20-4027-98B7-FB5ED4B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C8D1C-770D-446C-9E8A-6A7D69F4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1F1DC-2C31-41E7-9FE9-EF46027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1E28"/>
                </a:solidFill>
              </a:defRPr>
            </a:pPr>
            <a:r>
              <a:rPr sz="1200" b="1">
                <a:solidFill>
                  <a:srgbClr val="161E2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879D6-C9D0-4050-885E-B6E046B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Receber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2DBDE-C2AC-459A-8A17-12D5437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Contrato e identidade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D2C88-1F17-4E33-BA4A-09929A0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0DCA4-2CFA-46CA-96E5-56A115F9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193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87BD4-3D8C-4D7C-8715-5FA28F6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95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1E28"/>
                </a:solidFill>
              </a:defRPr>
            </a:pPr>
            <a:r>
              <a:rPr sz="1200" b="1">
                <a:solidFill>
                  <a:srgbClr val="161E2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80092-10F5-47EB-A11B-B7700AA7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Validar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0B308-535B-49DA-ACC2-28E36DBC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957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Versão e política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092CF-7B26-4D52-90FC-0B0287DD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194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B8ED4-841E-4F13-9B96-9780034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193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09C1F-59F7-4771-A9F0-83B3A1A7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95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1E28"/>
                </a:solidFill>
              </a:defRPr>
            </a:pPr>
            <a:r>
              <a:rPr sz="1200" b="1">
                <a:solidFill>
                  <a:srgbClr val="161E2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64B71-CC1B-40E2-9477-4B35255F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Orquestrar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AD770-8BEA-4EF7-8E98-C4ABA3D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957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Rota e idempotência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E9C46-8BB3-4EEA-BB3E-C3758A3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E82C3-48AD-4419-8268-8DA0850A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193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0503F-1C9D-467A-B65C-4CBCD17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95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1E28"/>
                </a:solidFill>
              </a:defRPr>
            </a:pPr>
            <a:r>
              <a:rPr sz="1200" b="1">
                <a:solidFill>
                  <a:srgbClr val="161E28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040FE-8928-482A-A8E3-0AEEDE6E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Executar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2D871-E73D-4451-BDB2-F126D9C2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Adaptador de domínio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0A0A6-FEE8-446B-8413-8C7EE813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1AAC7-4ADA-4FED-88B0-6AF48E8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95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1E28"/>
                </a:solidFill>
              </a:defRPr>
            </a:pPr>
            <a:r>
              <a:rPr sz="1200" b="1">
                <a:solidFill>
                  <a:srgbClr val="161E28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79DB0-3CFB-477B-92A7-4E6BE002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Observar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4A6CA-ABCC-40A5-B933-EF757176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957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Resultado correlacionado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7BA69-B8C3-4D01-B123-9628625B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0DDDF"/>
                </a:solidFill>
              </a:defRPr>
            </a:pPr>
            <a:r>
              <a:rPr sz="1350" b="1">
                <a:solidFill>
                  <a:srgbClr val="90DDDF"/>
                </a:solidFill>
              </a:rPr>
              <a:t>O identificador de correlação atravessa todas as etapas.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a241ca18e446d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16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3764C5-1BB7-4F84-80F3-0380B33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COMPARAÇÃO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CEE68-AC0F-4F37-8D42-0A6181BE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157A6-EA7C-46C4-8E53-C75A4036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609B4-4605-4905-988B-3E414768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859BA9-7239-4210-A4D8-CC1A02D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FF4F5"/>
                </a:solidFill>
              </a:defRPr>
            </a:pPr>
            <a:r>
              <a:rPr sz="3150" b="1">
                <a:solidFill>
                  <a:srgbClr val="EFF4F5"/>
                </a:solidFill>
              </a:rPr>
              <a:t>A migração incremental equilibra risco, velocidade e aprendizado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F35D5-5435-4212-B9B1-E1FEAE5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6D194-DB74-4466-A63D-E4F9D8C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FF4F5"/>
                </a:solidFill>
              </a:defRPr>
            </a:pPr>
            <a:r>
              <a:rPr sz="975" b="1">
                <a:solidFill>
                  <a:srgbClr val="EFF4F5"/>
                </a:solidFill>
              </a:rPr>
              <a:t>Critério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FF257-0D3D-44E8-916A-AB8928A7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9BCE6-6EF7-4719-B7F6-592D06FF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FF4F5"/>
                </a:solidFill>
              </a:defRPr>
            </a:pPr>
            <a:r>
              <a:rPr sz="1200" b="1">
                <a:solidFill>
                  <a:srgbClr val="EFF4F5"/>
                </a:solidFill>
              </a:rPr>
              <a:t>Manter como está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61D13-04D5-4E91-AE62-E68C66D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31C20-AB25-472C-9CD5-6073AABF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FF4F5"/>
                </a:solidFill>
              </a:defRPr>
            </a:pPr>
            <a:r>
              <a:rPr sz="1200" b="1">
                <a:solidFill>
                  <a:srgbClr val="EFF4F5"/>
                </a:solidFill>
              </a:rPr>
              <a:t>Reescrever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DD45E-A9B3-42C8-BD90-9ECEC3A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8D16F-11B1-43DE-BF6E-FA0CEBB2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0DDDF"/>
                </a:solidFill>
              </a:defRPr>
            </a:pPr>
            <a:r>
              <a:rPr sz="1200" b="1">
                <a:solidFill>
                  <a:srgbClr val="90DDDF"/>
                </a:solidFill>
              </a:rPr>
              <a:t>Migrar por capacidade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5D458-BB80-4510-B376-D252789F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C8F74-FBE7-4D2C-A655-86FB8796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Risco de entrega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31AE3-E3DC-4F70-A8EA-64E445DF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6B2EC-1E50-4F82-96BF-326E64F7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432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Baixo agora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8D903-CBB9-4B58-BACA-C27B295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541C8-B7DD-4302-B534-DE8D61A1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432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Alto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C430B-2673-493D-ABD1-E216926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6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CDEC8-A1F2-4377-A207-362A39B1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432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FF4F5"/>
                </a:solidFill>
              </a:defRPr>
            </a:pPr>
            <a:r>
              <a:rPr sz="1275" b="1">
                <a:solidFill>
                  <a:srgbClr val="EFF4F5"/>
                </a:solidFill>
              </a:rPr>
              <a:t>Controlado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43468-8938-4791-8F2C-F983508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9DC97-4F8C-4E75-9625-322CE3C5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Aprendizado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1792F6-21F5-4293-A639-74F6B7AD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718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AA67B-910E-4F44-B936-674FFE40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Lento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0072A-4248-4FF2-BF5E-6C6E479A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72C92-6758-4746-A788-F00CCDC4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718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Tardio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014703-8D84-454D-B250-4D4332BA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718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6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2C2CB-FC44-4F2F-AF76-431CC236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718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FF4F5"/>
                </a:solidFill>
              </a:defRPr>
            </a:pPr>
            <a:r>
              <a:rPr sz="1275" b="1">
                <a:solidFill>
                  <a:srgbClr val="EFF4F5"/>
                </a:solidFill>
              </a:rPr>
              <a:t>Contínuo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A3ABC5-2BFC-43EC-9E0F-6C7A260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833A69-A68E-4300-81F4-736CAB28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Custo de transição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91C2F-73F3-4434-927E-21A78910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950C1-C385-4940-9FC5-E0604E7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005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Crescente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6CD0C-9688-460E-A9B8-065DB6DA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66D91-852C-476A-8802-530CD72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Concentrado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C8D62C-0691-4908-9918-F31F10D4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6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C310B3-3C40-4071-9E0D-A724D4A7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005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FF4F5"/>
                </a:solidFill>
              </a:defRPr>
            </a:pPr>
            <a:r>
              <a:rPr sz="1275" b="1">
                <a:solidFill>
                  <a:srgbClr val="EFF4F5"/>
                </a:solidFill>
              </a:rPr>
              <a:t>Distribuído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1E8257-7490-4F1E-A5BB-D4222B6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168A09-285C-4252-94FC-73175CC2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7B8"/>
                </a:solidFill>
              </a:defRPr>
            </a:pPr>
            <a:r>
              <a:rPr sz="1050" b="0">
                <a:solidFill>
                  <a:srgbClr val="91A7B8"/>
                </a:solidFill>
              </a:rPr>
              <a:t>Reversibilidade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0CF3A9-B054-4C5A-BDCD-02E95AA6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291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3986C8-7B39-42D8-B8D2-1887A9B1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291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Baixa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EAE109-9553-474F-814E-8BFE87B4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FB34D6-B474-441E-8855-08A10E12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291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FF4F5"/>
                </a:solidFill>
              </a:defRPr>
            </a:pPr>
            <a:r>
              <a:rPr sz="1275" b="0">
                <a:solidFill>
                  <a:srgbClr val="EFF4F5"/>
                </a:solidFill>
              </a:rPr>
              <a:t>Baixa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E8E423-E8A5-4E3D-8C49-CD97B0AE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291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6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F8249A-1A9D-4058-B9F3-BADF756A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291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FF4F5"/>
                </a:solidFill>
              </a:defRPr>
            </a:pPr>
            <a:r>
              <a:rPr sz="1275" b="1">
                <a:solidFill>
                  <a:srgbClr val="EFF4F5"/>
                </a:solidFill>
              </a:rPr>
              <a:t>Alta</a:t>
            </a:r>
          </a:p>
        </p:txBody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0d48af2584634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23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6320F-2FBC-4E62-950F-10F101C1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EVIDÊNCIA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2FFFE-3EF4-47D8-967F-07BBD0BE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E4366-F0F4-44C4-B9D3-545AB985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234BE-6A8C-4D40-941E-F626516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79D430-F366-4F7D-83B1-0C56D476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FF4F5"/>
                </a:solidFill>
              </a:defRPr>
            </a:pPr>
            <a:r>
              <a:rPr sz="3150" b="1">
                <a:solidFill>
                  <a:srgbClr val="EFF4F5"/>
                </a:solidFill>
              </a:rPr>
              <a:t>Três sinais internos devem validar a prioridade antes do investimento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513E7-7BC6-4E84-B7E2-0F56B4C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0DDDF"/>
                </a:solidFill>
              </a:defRPr>
            </a:pPr>
            <a:r>
              <a:rPr sz="1050" b="1">
                <a:solidFill>
                  <a:srgbClr val="90DDD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1DCAA-80C6-42C9-9590-1EE45AF4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24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Mudança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C2D1E-F8B9-4DC6-98ED-A516579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1A7B8"/>
                </a:solidFill>
              </a:defRPr>
            </a:pPr>
            <a:r>
              <a:rPr sz="1350" b="0">
                <a:solidFill>
                  <a:srgbClr val="91A7B8"/>
                </a:solidFill>
              </a:rPr>
              <a:t>Tempo entre alteração de contrato e disponibilidade em produção.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14B18-4CBA-4638-89B4-4D5CF6A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753B7-B186-499C-8CA9-41B6026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0DDDF"/>
                </a:solidFill>
              </a:defRPr>
            </a:pPr>
            <a:r>
              <a:rPr sz="1050" b="1">
                <a:solidFill>
                  <a:srgbClr val="90DDD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25A93-A402-4609-8FAF-C1FE7317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Falha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E3D20-5938-4A22-AC49-BCE61B5B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337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1A7B8"/>
                </a:solidFill>
              </a:defRPr>
            </a:pPr>
            <a:r>
              <a:rPr sz="1350" b="0">
                <a:solidFill>
                  <a:srgbClr val="91A7B8"/>
                </a:solidFill>
              </a:rPr>
              <a:t>Percentual de incidentes sem correlação ponta a ponta.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E81C7-6853-4D5E-957B-48F1751F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773B3-7EF7-44AD-A400-2C011F27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0DDDF"/>
                </a:solidFill>
              </a:defRPr>
            </a:pPr>
            <a:r>
              <a:rPr sz="1050" b="1">
                <a:solidFill>
                  <a:srgbClr val="90DDD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5E8FF-DE8E-4BFF-9C82-CD78A34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FF4F5"/>
                </a:solidFill>
              </a:defRPr>
            </a:pPr>
            <a:r>
              <a:rPr sz="1800" b="1">
                <a:solidFill>
                  <a:srgbClr val="EFF4F5"/>
                </a:solidFill>
              </a:rPr>
              <a:t>Exceção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538FB-414F-400B-9B05-83D98AA2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43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1A7B8"/>
                </a:solidFill>
              </a:defRPr>
            </a:pPr>
            <a:r>
              <a:rPr sz="1350" b="0">
                <a:solidFill>
                  <a:srgbClr val="91A7B8"/>
                </a:solidFill>
              </a:rPr>
              <a:t>Quantidade de rotas que desviam do fluxo operacional padrão.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F390C-D0A7-45B1-BD9A-D43FFDD0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67350"/>
            <a:ext cx="662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5AA52"/>
                </a:solidFill>
              </a:defRPr>
            </a:pPr>
            <a:r>
              <a:rPr sz="975" b="0">
                <a:solidFill>
                  <a:srgbClr val="D5AA52"/>
                </a:solidFill>
              </a:rPr>
              <a:t>Os valores serão preenchidos após a linha de base da descoberta.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347c773f04c12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13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ADC18-C953-409A-8362-4B21E7F4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D2CD8-55A1-45CC-94BB-2514A35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32095-D811-40D8-9FEC-2AD9484E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7AC9C-5E2A-420F-B181-9362CA2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F48A36-1511-447E-8DDA-76E3E3A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FF4F5"/>
                </a:solidFill>
              </a:defRPr>
            </a:pPr>
            <a:r>
              <a:rPr sz="3150" b="1">
                <a:solidFill>
                  <a:srgbClr val="EFF4F5"/>
                </a:solidFill>
              </a:rPr>
              <a:t>A adoção começa pelo contrato e cresce conforme o aprendizado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64144-635F-453F-8743-61146B52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912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D34FB-CF08-49B3-8840-F4A9EA82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81325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2C675-34D6-4B0A-A2DF-52A3A332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0DDDF"/>
                </a:solidFill>
              </a:defRPr>
            </a:pPr>
            <a:r>
              <a:rPr sz="825" b="1">
                <a:solidFill>
                  <a:srgbClr val="90DDDF"/>
                </a:solidFill>
              </a:rPr>
              <a:t>AGORA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7A2AB-1EBA-45F0-B170-722DC92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FF4F5"/>
                </a:solidFill>
              </a:defRPr>
            </a:pPr>
            <a:r>
              <a:rPr sz="2100" b="1">
                <a:solidFill>
                  <a:srgbClr val="EFF4F5"/>
                </a:solidFill>
              </a:rPr>
              <a:t>Descobrir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999FD-1324-4032-AF7C-9E67EA34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7B8"/>
                </a:solidFill>
              </a:defRPr>
            </a:pPr>
            <a:r>
              <a:rPr sz="1275" b="0">
                <a:solidFill>
                  <a:srgbClr val="91A7B8"/>
                </a:solidFill>
              </a:rPr>
              <a:t>Medir o fluxo atual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1A7B8"/>
                </a:solidFill>
              </a:defRPr>
            </a:pPr>
            <a:r>
              <a:rPr sz="1275" b="0">
                <a:solidFill>
                  <a:srgbClr val="91A7B8"/>
                </a:solidFill>
              </a:rPr>
              <a:t>Definir contratos alvo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09C44-B799-4DA2-A469-26492029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81325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DED36-F5E1-4B9D-8EC0-DA7F941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1A7B8"/>
                </a:solidFill>
              </a:defRPr>
            </a:pPr>
            <a:r>
              <a:rPr sz="825" b="1">
                <a:solidFill>
                  <a:srgbClr val="91A7B8"/>
                </a:solidFill>
              </a:rPr>
              <a:t>PRÓXIMO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43DBA-AAC9-495E-951D-30D3DEFD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FF4F5"/>
                </a:solidFill>
              </a:defRPr>
            </a:pPr>
            <a:r>
              <a:rPr sz="2100" b="1">
                <a:solidFill>
                  <a:srgbClr val="EFF4F5"/>
                </a:solidFill>
              </a:rPr>
              <a:t>Provar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2B4A5-B197-4FA9-B75A-76D3389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7B8"/>
                </a:solidFill>
              </a:defRPr>
            </a:pPr>
            <a:r>
              <a:rPr sz="1275" b="0">
                <a:solidFill>
                  <a:srgbClr val="91A7B8"/>
                </a:solidFill>
              </a:rPr>
              <a:t>Migrar uma capacidade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1A7B8"/>
                </a:solidFill>
              </a:defRPr>
            </a:pPr>
            <a:r>
              <a:rPr sz="1275" b="0">
                <a:solidFill>
                  <a:srgbClr val="91A7B8"/>
                </a:solidFill>
              </a:rPr>
              <a:t>Validar telemetria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86DD5-F6F2-4C61-9535-B0C13D6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81325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1E28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4EEED-9D5F-46BE-ABC6-CE819A97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1A7B8"/>
                </a:solidFill>
              </a:defRPr>
            </a:pPr>
            <a:r>
              <a:rPr sz="825" b="1">
                <a:solidFill>
                  <a:srgbClr val="91A7B8"/>
                </a:solidFill>
              </a:rPr>
              <a:t>DEPOIS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581D2-6AB1-4763-A7DA-76D551C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19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FF4F5"/>
                </a:solidFill>
              </a:defRPr>
            </a:pPr>
            <a:r>
              <a:rPr sz="2100" b="1">
                <a:solidFill>
                  <a:srgbClr val="EFF4F5"/>
                </a:solidFill>
              </a:rPr>
              <a:t>Expandir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F8455-6540-4DC0-9269-98442149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7B8"/>
                </a:solidFill>
              </a:defRPr>
            </a:pPr>
            <a:r>
              <a:rPr sz="1275" b="0">
                <a:solidFill>
                  <a:srgbClr val="91A7B8"/>
                </a:solidFill>
              </a:rPr>
              <a:t>Adicionar adaptadores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1A7B8"/>
                </a:solidFill>
              </a:defRPr>
            </a:pPr>
            <a:r>
              <a:rPr sz="1275" b="0">
                <a:solidFill>
                  <a:srgbClr val="91A7B8"/>
                </a:solidFill>
              </a:rPr>
              <a:t>Remover exceções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c6c615c854c32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11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F21B1-B5A2-41B5-ACC3-7F0D4688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F0CE5-57CB-404A-91F9-08722F82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890D0-8163-4F8D-9523-F0B8C741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20E11-E96E-4C78-906C-4B9363AF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A526C-EC50-4189-A309-3019CCF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RECOMENDAÇÃO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EA934-2DCC-4B32-AC74-38E80A4F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95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FF4F5"/>
                </a:solidFill>
              </a:defRPr>
            </a:pPr>
            <a:r>
              <a:rPr sz="3600" b="1">
                <a:solidFill>
                  <a:srgbClr val="EFF4F5"/>
                </a:solidFill>
              </a:rPr>
              <a:t>Iniciar uma descoberta de quatro semanas focada em uma capacidade piloto.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1632D-1AED-47B3-939C-BF709AC4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95E"/>
          </a:solidFill>
          <a:ln xmlns:a="http://schemas.openxmlformats.org/drawingml/2006/main" w="9525">
            <a:solidFill>
              <a:srgbClr val="3449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0BBEC-A5B3-4DDF-9617-0EF073BE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1A7B8"/>
                </a:solidFill>
              </a:defRPr>
            </a:pPr>
            <a:r>
              <a:rPr sz="900" b="1">
                <a:solidFill>
                  <a:srgbClr val="91A7B8"/>
                </a:solidFill>
              </a:rPr>
              <a:t>DECISÃO SOLICITADA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BC61C-4C02-4F0D-BF68-BC788074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FF4F5"/>
                </a:solidFill>
              </a:defRPr>
            </a:pPr>
            <a:r>
              <a:rPr sz="1950" b="1">
                <a:solidFill>
                  <a:srgbClr val="EFF4F5"/>
                </a:solidFill>
              </a:rPr>
              <a:t>Autorizar a fase de descoberta e nomear responsáveis de plataforma e domínio.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67C26-B6A7-4CD7-B2C1-AEF020AB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43350"/>
            <a:ext cx="28194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5CC61-679A-459A-A42F-16ECEC0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1E28"/>
                </a:solidFill>
              </a:defRPr>
            </a:pPr>
            <a:r>
              <a:rPr sz="1050" b="1">
                <a:solidFill>
                  <a:srgbClr val="161E28"/>
                </a:solidFill>
              </a:rPr>
              <a:t>Próximo fórum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DBD85-4B39-4AB5-A4A8-A525E4F0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910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1E28"/>
                </a:solidFill>
              </a:defRPr>
            </a:pPr>
            <a:r>
              <a:rPr sz="1650" b="1">
                <a:solidFill>
                  <a:srgbClr val="161E28"/>
                </a:solidFill>
              </a:rPr>
              <a:t>Revisão do piloto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1639a98cd44a4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1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E0EFB-61F5-4AEA-8136-99249BD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APÊNDICE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EE774-EB9D-489D-B045-9BF07208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7B8"/>
                </a:solidFill>
              </a:defRPr>
            </a:pPr>
            <a:r>
              <a:rPr sz="900" b="0">
                <a:solidFill>
                  <a:srgbClr val="91A7B8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275E3-C0DC-4BFE-956C-14A238E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D4F"/>
          </a:solidFill>
          <a:ln xmlns:a="http://schemas.openxmlformats.org/drawingml/2006/main" w="9525">
            <a:solidFill>
              <a:srgbClr val="2C3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71B57-DB9A-45F4-9CE5-4F5940A7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1A7B8"/>
                </a:solidFill>
              </a:defRPr>
            </a:pPr>
            <a:r>
              <a:rPr sz="675" b="0">
                <a:solidFill>
                  <a:srgbClr val="91A7B8"/>
                </a:solidFill>
              </a:rPr>
              <a:t/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5DDB07-7164-412D-9D67-C24C5213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FF4F5"/>
                </a:solidFill>
              </a:defRPr>
            </a:pPr>
            <a:r>
              <a:rPr sz="3150" b="1">
                <a:solidFill>
                  <a:srgbClr val="EFF4F5"/>
                </a:solidFill>
              </a:rPr>
              <a:t>Princípios técnicos preservam as opções durante a migração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A1D61-1884-45A1-928A-2D228BD7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27530-7C3E-4A73-8BDA-DCA0634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FF4F5"/>
                </a:solidFill>
              </a:defRPr>
            </a:pPr>
            <a:r>
              <a:rPr sz="1575" b="1">
                <a:solidFill>
                  <a:srgbClr val="EFF4F5"/>
                </a:solidFill>
              </a:rPr>
              <a:t>Contrato antes da implementação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1BB36-17D6-464F-B0FA-B9A52DB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A fronteira pública é estável mesmo quando o adaptador muda.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BDE63-F354-46F3-8810-CA2FD39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8A747-0AF9-4849-AED8-FE2A587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FF4F5"/>
                </a:solidFill>
              </a:defRPr>
            </a:pPr>
            <a:r>
              <a:rPr sz="1575" b="1">
                <a:solidFill>
                  <a:srgbClr val="EFF4F5"/>
                </a:solidFill>
              </a:rPr>
              <a:t>Observabilidade por padrão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77943-D7E8-4A0A-9733-01D507A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Correlação, métricas e logs fazem parte do caminho principal.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686A0-CDE6-43A9-8198-4D5548D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70B8C-3F22-49BF-BF88-48517D9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FF4F5"/>
                </a:solidFill>
              </a:defRPr>
            </a:pPr>
            <a:r>
              <a:rPr sz="1575" b="1">
                <a:solidFill>
                  <a:srgbClr val="EFF4F5"/>
                </a:solidFill>
              </a:rPr>
              <a:t>Reversibilidade explícita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03E03-8AC5-45CF-A665-40E8653A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Cada fase define como interromper, voltar ou conviver.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57300-12B1-4798-858C-7B5579A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2DC3F-6745-4204-B624-3900CB5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FF4F5"/>
                </a:solidFill>
              </a:defRPr>
            </a:pPr>
            <a:r>
              <a:rPr sz="1575" b="1">
                <a:solidFill>
                  <a:srgbClr val="EFF4F5"/>
                </a:solidFill>
              </a:rPr>
              <a:t>Domínio mantém autonomia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F6900-D693-4321-A2C0-4985493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7B8"/>
                </a:solidFill>
              </a:defRPr>
            </a:pPr>
            <a:r>
              <a:rPr sz="1200" b="0">
                <a:solidFill>
                  <a:srgbClr val="91A7B8"/>
                </a:solidFill>
              </a:rPr>
              <a:t>A plataforma oferece capacidades sem absorver regra de negócio.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d6d27cedb46ff"/>
          <a:stretch xmlns:a="http://schemas.openxmlformats.org/drawingml/2006/main"/>
        </p:blipFill>
        <p:spPr>
          <a:xfrm xmlns:a="http://schemas.openxmlformats.org/drawingml/2006/main">
            <a:off x="685800" y="6364094"/>
            <a:ext cx="723900" cy="397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41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1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EF8A3-683E-4CD0-90D3-5BA1F22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DDF"/>
          </a:solidFill>
          <a:ln xmlns:a="http://schemas.openxmlformats.org/drawingml/2006/main" w="9525">
            <a:solidFill>
              <a:srgbClr val="90DD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C0399-AC10-4901-A9D0-D36E64D5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FF4F5"/>
                </a:solidFill>
              </a:defRPr>
            </a:pPr>
            <a:r>
              <a:rPr sz="3600" b="1">
                <a:solidFill>
                  <a:srgbClr val="EFF4F5"/>
                </a:solidFill>
              </a:rPr>
              <a:t>O objetivo não é centralizar toda integração.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01DEB-332A-413F-9297-3187A43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91A7B8"/>
                </a:solidFill>
              </a:defRPr>
            </a:pPr>
            <a:r>
              <a:rPr sz="2400" b="0">
                <a:solidFill>
                  <a:srgbClr val="91A7B8"/>
                </a:solidFill>
              </a:rPr>
              <a:t>É tornar contratos, caminhos e decisões previsíveis o suficiente para que os domínios evoluam com autonomia.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0CE85-BE2F-4A46-AE76-71D4C8A0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0DDDF"/>
                </a:solidFill>
              </a:defRPr>
            </a:pPr>
            <a:r>
              <a:rPr sz="900" b="1">
                <a:solidFill>
                  <a:srgbClr val="90DDDF"/>
                </a:solidFill>
              </a:rPr>
              <a:t>PRÓXIMO PASSO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2A349-4174-4AC7-83D2-D6EE4FF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FF4F5"/>
                </a:solidFill>
              </a:defRPr>
            </a:pPr>
            <a:r>
              <a:rPr sz="1650" b="1">
                <a:solidFill>
                  <a:srgbClr val="EFF4F5"/>
                </a:solidFill>
              </a:rPr>
              <a:t>Autorizar a descoberta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171DD-9B3A-4B25-AE3B-8C296F3F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7B8"/>
                </a:solidFill>
              </a:defRPr>
            </a:pPr>
            <a:r>
              <a:rPr sz="975" b="1">
                <a:solidFill>
                  <a:srgbClr val="91A7B8"/>
                </a:solidFill>
              </a:rPr>
              <a:t/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6b42eaa4f4a85"/>
          <a:stretch xmlns:a="http://schemas.openxmlformats.org/drawingml/2006/main"/>
        </p:blipFill>
        <p:spPr>
          <a:xfrm xmlns:a="http://schemas.openxmlformats.org/drawingml/2006/main">
            <a:off x="9620250" y="5264189"/>
            <a:ext cx="1885950" cy="10349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3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2026-07-24T22:31:45.6910000Z</dcterms:created>
  <dcterms:modified xsi:type="dcterms:W3CDTF">2026-07-24T22:31:45.6910000Z</dcterms:modified>
</coreProperties>
</file>